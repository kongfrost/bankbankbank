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73" r:id="rId5"/>
    <p:sldId id="270" r:id="rId6"/>
    <p:sldId id="260" r:id="rId7"/>
    <p:sldId id="272" r:id="rId8"/>
    <p:sldId id="271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E263DAD-BC0A-4370-A1EB-90C0805C6A79}">
  <a:tblStyle styleId="{9E263DAD-BC0A-4370-A1EB-90C0805C6A79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51" autoAdjust="0"/>
    <p:restoredTop sz="92108" autoAdjust="0"/>
  </p:normalViewPr>
  <p:slideViewPr>
    <p:cSldViewPr snapToGrid="0">
      <p:cViewPr>
        <p:scale>
          <a:sx n="75" d="100"/>
          <a:sy n="75" d="100"/>
        </p:scale>
        <p:origin x="618" y="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510226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739415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925242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237986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/>
        </p:nvSpPr>
        <p:spPr>
          <a:xfrm>
            <a:off x="295275" y="2012453"/>
            <a:ext cx="1160145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9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“</a:t>
            </a:r>
            <a:r>
              <a:rPr lang="ru-RU" sz="4800" b="1" i="0" u="none" strike="noStrike" cap="none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ГосБанк</a:t>
            </a:r>
            <a:r>
              <a:rPr lang="en-US" sz="4800" b="1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”</a:t>
            </a:r>
            <a:endParaRPr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Блок-схема: альтернативный процесс 2">
            <a:extLst>
              <a:ext uri="{FF2B5EF4-FFF2-40B4-BE49-F238E27FC236}">
                <a16:creationId xmlns:a16="http://schemas.microsoft.com/office/drawing/2014/main" id="{1DBE197B-0DA5-F10C-F995-C02E7F88A77D}"/>
              </a:ext>
            </a:extLst>
          </p:cNvPr>
          <p:cNvSpPr/>
          <p:nvPr/>
        </p:nvSpPr>
        <p:spPr>
          <a:xfrm>
            <a:off x="3327399" y="3365500"/>
            <a:ext cx="5537201" cy="735195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Разработчик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Ярцев В.А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|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Группа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24290907/2093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5A982C-0409-82D7-3833-D65F6DEB5435}"/>
              </a:ext>
            </a:extLst>
          </p:cNvPr>
          <p:cNvSpPr txBox="1"/>
          <p:nvPr/>
        </p:nvSpPr>
        <p:spPr>
          <a:xfrm>
            <a:off x="1066797" y="5958903"/>
            <a:ext cx="12319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>
                    <a:lumMod val="9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endParaRPr lang="ru-RU" sz="2400" dirty="0">
              <a:solidFill>
                <a:schemeClr val="bg1">
                  <a:lumMod val="9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7B6CEC3B-FE66-4AB5-BF05-3C641A456146}"/>
              </a:ext>
            </a:extLst>
          </p:cNvPr>
          <p:cNvSpPr/>
          <p:nvPr/>
        </p:nvSpPr>
        <p:spPr>
          <a:xfrm>
            <a:off x="9169400" y="3581400"/>
            <a:ext cx="2527300" cy="23775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9A3305-741A-4294-B91D-424F1EFB68EC}"/>
              </a:ext>
            </a:extLst>
          </p:cNvPr>
          <p:cNvSpPr txBox="1"/>
          <p:nvPr/>
        </p:nvSpPr>
        <p:spPr>
          <a:xfrm>
            <a:off x="9817100" y="6014538"/>
            <a:ext cx="12319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Сайт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0B665979-89A1-462D-AD49-91018D0571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3453" y="3636995"/>
            <a:ext cx="2359194" cy="2266312"/>
          </a:xfrm>
          <a:prstGeom prst="rect">
            <a:avLst/>
          </a:prstGeom>
        </p:spPr>
      </p:pic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CA5B64D7-D33C-4D9B-BBD6-2FBE8F320909}"/>
              </a:ext>
            </a:extLst>
          </p:cNvPr>
          <p:cNvSpPr/>
          <p:nvPr/>
        </p:nvSpPr>
        <p:spPr>
          <a:xfrm>
            <a:off x="579352" y="3581400"/>
            <a:ext cx="2443247" cy="23775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A358E4B6-759E-4E55-9E39-42FECAA5DA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629" y="3636995"/>
            <a:ext cx="2349552" cy="22663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4"/>
          <p:cNvSpPr txBox="1"/>
          <p:nvPr/>
        </p:nvSpPr>
        <p:spPr>
          <a:xfrm>
            <a:off x="628650" y="1736921"/>
            <a:ext cx="267081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 SemiBold"/>
              </a:rPr>
              <a:t>Назначение сайта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Google Shape;106;p14"/>
          <p:cNvSpPr txBox="1"/>
          <p:nvPr/>
        </p:nvSpPr>
        <p:spPr>
          <a:xfrm>
            <a:off x="714375" y="476250"/>
            <a:ext cx="11451431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Предметная</a:t>
            </a:r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 </a:t>
            </a:r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область</a:t>
            </a:r>
            <a:endParaRPr sz="4000" b="1" dirty="0">
              <a:solidFill>
                <a:srgbClr val="0F17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4"/>
          <p:cNvSpPr/>
          <p:nvPr/>
        </p:nvSpPr>
        <p:spPr>
          <a:xfrm>
            <a:off x="628650" y="476250"/>
            <a:ext cx="59530" cy="59769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C00234-493A-4528-839C-2AEF42B6BAF4}"/>
              </a:ext>
            </a:extLst>
          </p:cNvPr>
          <p:cNvSpPr txBox="1"/>
          <p:nvPr/>
        </p:nvSpPr>
        <p:spPr>
          <a:xfrm>
            <a:off x="4985314" y="1694453"/>
            <a:ext cx="9877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Защита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05B239-1BDC-488C-A649-1C9682D15C18}"/>
              </a:ext>
            </a:extLst>
          </p:cNvPr>
          <p:cNvSpPr txBox="1"/>
          <p:nvPr/>
        </p:nvSpPr>
        <p:spPr>
          <a:xfrm>
            <a:off x="628650" y="2284562"/>
            <a:ext cx="452755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Сайт «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ГосБанк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 представляет собой финансовую платформу, предназначенную для:</a:t>
            </a:r>
          </a:p>
          <a:p>
            <a:pPr algn="l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Одобрения и оформления карт </a:t>
            </a:r>
          </a:p>
          <a:p>
            <a:pPr marL="342900" indent="-342900" algn="l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Выдачи кредитов и овердрафта ;</a:t>
            </a:r>
          </a:p>
          <a:p>
            <a:pPr marL="342900" indent="-342900" algn="l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Входа и верификации через Госуслуги;</a:t>
            </a:r>
          </a:p>
          <a:p>
            <a:pPr marL="342900" indent="-342900" algn="l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Администрирования одобрение новых администраторов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6B469-C63B-43DB-8AC7-92E9CEF53924}"/>
              </a:ext>
            </a:extLst>
          </p:cNvPr>
          <p:cNvSpPr txBox="1"/>
          <p:nvPr/>
        </p:nvSpPr>
        <p:spPr>
          <a:xfrm>
            <a:off x="5023873" y="3777791"/>
            <a:ext cx="40238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Общий срок разработки: 5 месяцев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34EEA4-B8A4-426E-8579-E9E421C52835}"/>
              </a:ext>
            </a:extLst>
          </p:cNvPr>
          <p:cNvSpPr txBox="1"/>
          <p:nvPr/>
        </p:nvSpPr>
        <p:spPr>
          <a:xfrm>
            <a:off x="4985314" y="2238396"/>
            <a:ext cx="6192721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Удалённость серверов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Удаление данных и создание резервных копий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Верификация только через Госуслуги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Доступность 	Конфиденциальность	Целостность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71BC5D-A3C0-45C2-AA34-A9EDED39F64E}"/>
              </a:ext>
            </a:extLst>
          </p:cNvPr>
          <p:cNvSpPr txBox="1"/>
          <p:nvPr/>
        </p:nvSpPr>
        <p:spPr>
          <a:xfrm>
            <a:off x="4985314" y="4455742"/>
            <a:ext cx="588588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Предполагаемая нагрузка: до 1 млн пользователей, а доступ к сервису предоставляется только гражданам РФ.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5"/>
          <p:cNvSpPr txBox="1"/>
          <p:nvPr/>
        </p:nvSpPr>
        <p:spPr>
          <a:xfrm>
            <a:off x="714375" y="476250"/>
            <a:ext cx="11451431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Модель Жизненно Цикла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07;p14">
            <a:extLst>
              <a:ext uri="{FF2B5EF4-FFF2-40B4-BE49-F238E27FC236}">
                <a16:creationId xmlns:a16="http://schemas.microsoft.com/office/drawing/2014/main" id="{65CF65BB-6228-4929-9CB8-0DDA0250CBED}"/>
              </a:ext>
            </a:extLst>
          </p:cNvPr>
          <p:cNvSpPr/>
          <p:nvPr/>
        </p:nvSpPr>
        <p:spPr>
          <a:xfrm>
            <a:off x="628650" y="476250"/>
            <a:ext cx="59530" cy="59769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48ABA66-2FFB-4DAE-AD52-A50C282830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1300" y="784026"/>
            <a:ext cx="7048500" cy="5873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C2D40EB-C371-4BB0-B1B1-83ECF42FBA45}"/>
              </a:ext>
            </a:extLst>
          </p:cNvPr>
          <p:cNvSpPr txBox="1"/>
          <p:nvPr/>
        </p:nvSpPr>
        <p:spPr>
          <a:xfrm>
            <a:off x="152401" y="2135851"/>
            <a:ext cx="419100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Почему выбрана спиральная модель?</a:t>
            </a:r>
          </a:p>
          <a:p>
            <a:pPr algn="l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Так как она:</a:t>
            </a:r>
          </a:p>
          <a:p>
            <a:pPr marL="457200" indent="-457200" algn="l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Позволяет управлять рисками </a:t>
            </a:r>
          </a:p>
          <a:p>
            <a:pPr marL="457200" indent="-457200" algn="l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Обеспечивает гибкость</a:t>
            </a:r>
          </a:p>
          <a:p>
            <a:pPr marL="457200" indent="-457200" algn="l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Даёт заказчику раннее представление продукта </a:t>
            </a:r>
          </a:p>
          <a:p>
            <a:pPr marL="457200" indent="-457200" algn="l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Снижает риск провала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5"/>
          <p:cNvSpPr txBox="1"/>
          <p:nvPr/>
        </p:nvSpPr>
        <p:spPr>
          <a:xfrm>
            <a:off x="714375" y="476250"/>
            <a:ext cx="11451431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Модель Жизненно Цикла</a:t>
            </a:r>
            <a:endParaRPr lang="ru-RU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53FC8F1-A31B-881A-EB7A-8FFD6EEC3721}"/>
              </a:ext>
            </a:extLst>
          </p:cNvPr>
          <p:cNvSpPr txBox="1"/>
          <p:nvPr/>
        </p:nvSpPr>
        <p:spPr>
          <a:xfrm>
            <a:off x="628650" y="1390650"/>
            <a:ext cx="48750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Итерация 1: Базовый каркас и архитектура</a:t>
            </a:r>
          </a:p>
        </p:txBody>
      </p:sp>
      <p:sp>
        <p:nvSpPr>
          <p:cNvPr id="5" name="Google Shape;107;p14">
            <a:extLst>
              <a:ext uri="{FF2B5EF4-FFF2-40B4-BE49-F238E27FC236}">
                <a16:creationId xmlns:a16="http://schemas.microsoft.com/office/drawing/2014/main" id="{C19EC165-C6D4-482F-8596-A67B792DD88B}"/>
              </a:ext>
            </a:extLst>
          </p:cNvPr>
          <p:cNvSpPr/>
          <p:nvPr/>
        </p:nvSpPr>
        <p:spPr>
          <a:xfrm>
            <a:off x="628650" y="476250"/>
            <a:ext cx="59530" cy="59769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1FA198-161B-4515-83DF-FFCB23681ECE}"/>
              </a:ext>
            </a:extLst>
          </p:cNvPr>
          <p:cNvSpPr txBox="1"/>
          <p:nvPr/>
        </p:nvSpPr>
        <p:spPr>
          <a:xfrm>
            <a:off x="1238250" y="2952750"/>
            <a:ext cx="5581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0" i="0" dirty="0">
                <a:solidFill>
                  <a:srgbClr val="F9FAF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Этап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7B100FD9-A05E-4D21-B7EE-DDAFB09AF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8747254"/>
              </p:ext>
            </p:extLst>
          </p:nvPr>
        </p:nvGraphicFramePr>
        <p:xfrm>
          <a:off x="952500" y="2107466"/>
          <a:ext cx="3662860" cy="4157200"/>
        </p:xfrm>
        <a:graphic>
          <a:graphicData uri="http://schemas.openxmlformats.org/drawingml/2006/table">
            <a:tbl>
              <a:tblPr/>
              <a:tblGrid>
                <a:gridCol w="3662860">
                  <a:extLst>
                    <a:ext uri="{9D8B030D-6E8A-4147-A177-3AD203B41FA5}">
                      <a16:colId xmlns:a16="http://schemas.microsoft.com/office/drawing/2014/main" val="3598824791"/>
                    </a:ext>
                  </a:extLst>
                </a:gridCol>
              </a:tblGrid>
              <a:tr h="841847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Сбор и анализ требований</a:t>
                      </a:r>
                    </a:p>
                  </a:txBody>
                  <a:tcPr marL="73593" marR="122655" marT="76659" marB="7665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294907"/>
                  </a:ext>
                </a:extLst>
              </a:tr>
              <a:tr h="1008748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Проектирование архитектуры</a:t>
                      </a:r>
                    </a:p>
                  </a:txBody>
                  <a:tcPr marL="73593" marR="122655" marT="76659" marB="7665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1610971"/>
                  </a:ext>
                </a:extLst>
              </a:tr>
              <a:tr h="841847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Настройка инфраструктуры</a:t>
                      </a:r>
                    </a:p>
                  </a:txBody>
                  <a:tcPr marL="73593" marR="122655" marT="76659" marB="7665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4328359"/>
                  </a:ext>
                </a:extLst>
              </a:tr>
              <a:tr h="794967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Прототип системы</a:t>
                      </a:r>
                    </a:p>
                  </a:txBody>
                  <a:tcPr marL="73593" marR="122655" marT="76659" marB="7665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7409972"/>
                  </a:ext>
                </a:extLst>
              </a:tr>
              <a:tr h="669791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Оценка рисков</a:t>
                      </a:r>
                    </a:p>
                  </a:txBody>
                  <a:tcPr marL="73593" marR="122655" marT="76659" marB="7665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186137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C8F5EA6-4D02-4DFC-87B3-2B84C6507322}"/>
              </a:ext>
            </a:extLst>
          </p:cNvPr>
          <p:cNvSpPr txBox="1"/>
          <p:nvPr/>
        </p:nvSpPr>
        <p:spPr>
          <a:xfrm>
            <a:off x="5810250" y="1390650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Итерация 2: Система аутентификации и безопасности</a:t>
            </a:r>
          </a:p>
        </p:txBody>
      </p:sp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513A0CE0-959C-4965-B274-C35BA8F024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3796205"/>
              </p:ext>
            </p:extLst>
          </p:nvPr>
        </p:nvGraphicFramePr>
        <p:xfrm>
          <a:off x="7164489" y="2107466"/>
          <a:ext cx="3755428" cy="4157201"/>
        </p:xfrm>
        <a:graphic>
          <a:graphicData uri="http://schemas.openxmlformats.org/drawingml/2006/table">
            <a:tbl>
              <a:tblPr/>
              <a:tblGrid>
                <a:gridCol w="3755428">
                  <a:extLst>
                    <a:ext uri="{9D8B030D-6E8A-4147-A177-3AD203B41FA5}">
                      <a16:colId xmlns:a16="http://schemas.microsoft.com/office/drawing/2014/main" val="1532813397"/>
                    </a:ext>
                  </a:extLst>
                </a:gridCol>
              </a:tblGrid>
              <a:tr h="630103">
                <a:tc>
                  <a:txBody>
                    <a:bodyPr/>
                    <a:lstStyle/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Интеграция с Госуслугами</a:t>
                      </a:r>
                    </a:p>
                  </a:txBody>
                  <a:tcPr marL="62284" marR="103806" marT="64879" marB="648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2659138"/>
                  </a:ext>
                </a:extLst>
              </a:tr>
              <a:tr h="804014">
                <a:tc>
                  <a:txBody>
                    <a:bodyPr/>
                    <a:lstStyle/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Разработка системы ролей</a:t>
                      </a:r>
                    </a:p>
                  </a:txBody>
                  <a:tcPr marL="62284" marR="103806" marT="64879" marB="648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610859"/>
                  </a:ext>
                </a:extLst>
              </a:tr>
              <a:tr h="804014">
                <a:tc>
                  <a:txBody>
                    <a:bodyPr/>
                    <a:lstStyle/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Реализация механизмов защиты</a:t>
                      </a:r>
                    </a:p>
                  </a:txBody>
                  <a:tcPr marL="62284" marR="103806" marT="64879" marB="648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143256"/>
                  </a:ext>
                </a:extLst>
              </a:tr>
              <a:tr h="804014">
                <a:tc>
                  <a:txBody>
                    <a:bodyPr/>
                    <a:lstStyle/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Прототип формы входа</a:t>
                      </a:r>
                    </a:p>
                  </a:txBody>
                  <a:tcPr marL="62284" marR="103806" marT="64879" marB="648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0057677"/>
                  </a:ext>
                </a:extLst>
              </a:tr>
              <a:tr h="639690">
                <a:tc>
                  <a:txBody>
                    <a:bodyPr/>
                    <a:lstStyle/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Тестирование безопасности</a:t>
                      </a:r>
                    </a:p>
                  </a:txBody>
                  <a:tcPr marL="62284" marR="103806" marT="64879" marB="648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882050"/>
                  </a:ext>
                </a:extLst>
              </a:tr>
              <a:tr h="475366">
                <a:tc>
                  <a:txBody>
                    <a:bodyPr/>
                    <a:lstStyle/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Оценка рисков</a:t>
                      </a:r>
                    </a:p>
                  </a:txBody>
                  <a:tcPr marL="62284" marR="103806" marT="64879" marB="648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76167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28097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6"/>
          <p:cNvSpPr txBox="1"/>
          <p:nvPr/>
        </p:nvSpPr>
        <p:spPr>
          <a:xfrm>
            <a:off x="1331119" y="3204835"/>
            <a:ext cx="5600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  <a:sym typeface="Montserrat SemiBold"/>
              </a:rPr>
              <a:t>4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sym typeface="Montserrat SemiBold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  <a:sym typeface="Montserrat SemiBold"/>
              </a:rPr>
              <a:t>уровня доступа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sym typeface="Montserrat SemiBold"/>
              </a:rPr>
              <a:t>: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3" name="Google Shape;143;p16"/>
          <p:cNvSpPr txBox="1"/>
          <p:nvPr/>
        </p:nvSpPr>
        <p:spPr>
          <a:xfrm>
            <a:off x="2217740" y="3717925"/>
            <a:ext cx="4905375" cy="1846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  <a:sym typeface="Inter SemiBold"/>
              </a:rPr>
              <a:t>Гость</a:t>
            </a:r>
          </a:p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  <a:sym typeface="Inter SemiBold"/>
              </a:rPr>
              <a:t>Зарегистрированный пользователь </a:t>
            </a:r>
          </a:p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  <a:sym typeface="Inter SemiBold"/>
              </a:rPr>
              <a:t>Админ </a:t>
            </a:r>
          </a:p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  <a:sym typeface="Inter SemiBold"/>
              </a:rPr>
              <a:t>Суперадмин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9" name="Google Shape;149;p16"/>
          <p:cNvSpPr txBox="1"/>
          <p:nvPr/>
        </p:nvSpPr>
        <p:spPr>
          <a:xfrm>
            <a:off x="740569" y="428625"/>
            <a:ext cx="11451431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Интерфейс</a:t>
            </a:r>
            <a:r>
              <a:rPr lang="en-US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 и </a:t>
            </a:r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уровни доступа</a:t>
            </a:r>
            <a:endParaRPr sz="4000" b="1" dirty="0">
              <a:solidFill>
                <a:srgbClr val="0F17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A7C726-9BC2-50C9-B0EC-6C78B9B5BA0A}"/>
              </a:ext>
            </a:extLst>
          </p:cNvPr>
          <p:cNvSpPr txBox="1"/>
          <p:nvPr/>
        </p:nvSpPr>
        <p:spPr>
          <a:xfrm>
            <a:off x="654844" y="1510639"/>
            <a:ext cx="22381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Описания словами</a:t>
            </a:r>
          </a:p>
        </p:txBody>
      </p:sp>
      <p:sp>
        <p:nvSpPr>
          <p:cNvPr id="10" name="Google Shape;107;p14">
            <a:extLst>
              <a:ext uri="{FF2B5EF4-FFF2-40B4-BE49-F238E27FC236}">
                <a16:creationId xmlns:a16="http://schemas.microsoft.com/office/drawing/2014/main" id="{BD9B35EC-C90D-4A30-89A9-40BB49CF84C6}"/>
              </a:ext>
            </a:extLst>
          </p:cNvPr>
          <p:cNvSpPr/>
          <p:nvPr/>
        </p:nvSpPr>
        <p:spPr>
          <a:xfrm>
            <a:off x="654844" y="428625"/>
            <a:ext cx="59530" cy="59769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21D803-0416-4AB1-9AAB-E36CFDF15B01}"/>
              </a:ext>
            </a:extLst>
          </p:cNvPr>
          <p:cNvSpPr txBox="1"/>
          <p:nvPr/>
        </p:nvSpPr>
        <p:spPr>
          <a:xfrm>
            <a:off x="473869" y="2038095"/>
            <a:ext cx="118336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Главная страница -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Калькулятор овердрафта -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Подать заявку -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Регистрация -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Вход через Госуслуги -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Калькулятор овердрафта -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Подать заявку -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Ожидания подтверждения Администрации </a:t>
            </a:r>
          </a:p>
        </p:txBody>
      </p:sp>
    </p:spTree>
    <p:extLst>
      <p:ext uri="{BB962C8B-B14F-4D97-AF65-F5344CB8AC3E}">
        <p14:creationId xmlns:p14="http://schemas.microsoft.com/office/powerpoint/2010/main" val="1125813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7"/>
          <p:cNvSpPr txBox="1"/>
          <p:nvPr/>
        </p:nvSpPr>
        <p:spPr>
          <a:xfrm>
            <a:off x="554830" y="314325"/>
            <a:ext cx="11451431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 - Макет</a:t>
            </a:r>
            <a:endParaRPr sz="3600" b="1" dirty="0">
              <a:solidFill>
                <a:srgbClr val="0F17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Google Shape;107;p14">
            <a:extLst>
              <a:ext uri="{FF2B5EF4-FFF2-40B4-BE49-F238E27FC236}">
                <a16:creationId xmlns:a16="http://schemas.microsoft.com/office/drawing/2014/main" id="{AFB9E480-E7A8-4661-92BE-C577736F642D}"/>
              </a:ext>
            </a:extLst>
          </p:cNvPr>
          <p:cNvSpPr/>
          <p:nvPr/>
        </p:nvSpPr>
        <p:spPr>
          <a:xfrm>
            <a:off x="495300" y="314325"/>
            <a:ext cx="59530" cy="59769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E0A1F8D-C6D9-4149-A141-A3217378DE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281" y="1866659"/>
            <a:ext cx="10831437" cy="344853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7"/>
          <p:cNvSpPr txBox="1"/>
          <p:nvPr/>
        </p:nvSpPr>
        <p:spPr>
          <a:xfrm>
            <a:off x="714375" y="476250"/>
            <a:ext cx="11451431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Видео </a:t>
            </a:r>
            <a:r>
              <a:rPr lang="ru-RU" sz="4000" b="1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Гифка</a:t>
            </a:r>
            <a:endParaRPr sz="4000" b="1" dirty="0">
              <a:solidFill>
                <a:srgbClr val="0F17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009E9CA-897A-AA60-5F75-3D63EC1D9CEE}"/>
              </a:ext>
            </a:extLst>
          </p:cNvPr>
          <p:cNvSpPr/>
          <p:nvPr/>
        </p:nvSpPr>
        <p:spPr>
          <a:xfrm>
            <a:off x="306571" y="3963197"/>
            <a:ext cx="2527300" cy="23775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76F550-1D52-BBD0-839C-36EC3FC36BCC}"/>
              </a:ext>
            </a:extLst>
          </p:cNvPr>
          <p:cNvSpPr txBox="1"/>
          <p:nvPr/>
        </p:nvSpPr>
        <p:spPr>
          <a:xfrm>
            <a:off x="954271" y="6396335"/>
            <a:ext cx="12319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Сайт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177E0A0-3114-458F-B29B-E1ECD91B7E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745" y="4038121"/>
            <a:ext cx="2318952" cy="2227654"/>
          </a:xfrm>
          <a:prstGeom prst="rect">
            <a:avLst/>
          </a:prstGeom>
        </p:spPr>
      </p:pic>
      <p:sp>
        <p:nvSpPr>
          <p:cNvPr id="8" name="Google Shape;107;p14">
            <a:extLst>
              <a:ext uri="{FF2B5EF4-FFF2-40B4-BE49-F238E27FC236}">
                <a16:creationId xmlns:a16="http://schemas.microsoft.com/office/drawing/2014/main" id="{E7A00DB9-6AAB-4886-86BA-660176C90C01}"/>
              </a:ext>
            </a:extLst>
          </p:cNvPr>
          <p:cNvSpPr/>
          <p:nvPr/>
        </p:nvSpPr>
        <p:spPr>
          <a:xfrm>
            <a:off x="628650" y="476250"/>
            <a:ext cx="59530" cy="59769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895171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4375" y="2066925"/>
            <a:ext cx="3530649" cy="3162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89853" y="2066925"/>
            <a:ext cx="3530649" cy="3162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7"/>
          <p:cNvSpPr txBox="1"/>
          <p:nvPr/>
        </p:nvSpPr>
        <p:spPr>
          <a:xfrm>
            <a:off x="714375" y="476250"/>
            <a:ext cx="11451431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u="none" strike="noStrike" cap="none" dirty="0">
                <a:solidFill>
                  <a:srgbClr val="0F172A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Принципы </a:t>
            </a:r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удобного</a:t>
            </a:r>
            <a:r>
              <a:rPr lang="en-US" sz="4000" b="1" i="0" u="none" strike="noStrike" cap="none" dirty="0">
                <a:solidFill>
                  <a:srgbClr val="0F172A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GUI</a:t>
            </a:r>
            <a:endParaRPr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Google Shape;107;p14">
            <a:extLst>
              <a:ext uri="{FF2B5EF4-FFF2-40B4-BE49-F238E27FC236}">
                <a16:creationId xmlns:a16="http://schemas.microsoft.com/office/drawing/2014/main" id="{0B192ED6-430D-41EF-9F35-3717AC15C704}"/>
              </a:ext>
            </a:extLst>
          </p:cNvPr>
          <p:cNvSpPr/>
          <p:nvPr/>
        </p:nvSpPr>
        <p:spPr>
          <a:xfrm>
            <a:off x="628650" y="476250"/>
            <a:ext cx="59530" cy="59769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2EA948-2EAD-4EE2-977D-E293FB6C5D5D}"/>
              </a:ext>
            </a:extLst>
          </p:cNvPr>
          <p:cNvSpPr txBox="1"/>
          <p:nvPr/>
        </p:nvSpPr>
        <p:spPr>
          <a:xfrm>
            <a:off x="1857375" y="3429000"/>
            <a:ext cx="16530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Принцип простоты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ADD212-2BB6-4BFC-8644-F826C7C5BA97}"/>
              </a:ext>
            </a:extLst>
          </p:cNvPr>
          <p:cNvSpPr txBox="1"/>
          <p:nvPr/>
        </p:nvSpPr>
        <p:spPr>
          <a:xfrm>
            <a:off x="9248775" y="3340298"/>
            <a:ext cx="17924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Принцип Видимости</a:t>
            </a:r>
          </a:p>
        </p:txBody>
      </p:sp>
    </p:spTree>
    <p:extLst>
      <p:ext uri="{BB962C8B-B14F-4D97-AF65-F5344CB8AC3E}">
        <p14:creationId xmlns:p14="http://schemas.microsoft.com/office/powerpoint/2010/main" val="3144698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8"/>
          <p:cNvSpPr txBox="1"/>
          <p:nvPr/>
        </p:nvSpPr>
        <p:spPr>
          <a:xfrm>
            <a:off x="714375" y="476250"/>
            <a:ext cx="11451431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Руководство Оператора и ГОСТы(ЕСПД)</a:t>
            </a:r>
            <a:endParaRPr sz="4000" b="1" dirty="0">
              <a:solidFill>
                <a:srgbClr val="0F17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81CABD6-F1C3-654E-B103-7908F6441FB6}"/>
              </a:ext>
            </a:extLst>
          </p:cNvPr>
          <p:cNvSpPr txBox="1"/>
          <p:nvPr/>
        </p:nvSpPr>
        <p:spPr>
          <a:xfrm>
            <a:off x="688180" y="1570940"/>
            <a:ext cx="1141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ГОСТы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19347C-BAFD-6061-5F50-90EF8F5691C8}"/>
              </a:ext>
            </a:extLst>
          </p:cNvPr>
          <p:cNvSpPr txBox="1"/>
          <p:nvPr/>
        </p:nvSpPr>
        <p:spPr>
          <a:xfrm>
            <a:off x="1066797" y="5958903"/>
            <a:ext cx="12319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endParaRPr lang="ru-RU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Google Shape;107;p14">
            <a:extLst>
              <a:ext uri="{FF2B5EF4-FFF2-40B4-BE49-F238E27FC236}">
                <a16:creationId xmlns:a16="http://schemas.microsoft.com/office/drawing/2014/main" id="{32B9CE89-8A2B-4560-B497-6BBA438C4EF4}"/>
              </a:ext>
            </a:extLst>
          </p:cNvPr>
          <p:cNvSpPr/>
          <p:nvPr/>
        </p:nvSpPr>
        <p:spPr>
          <a:xfrm>
            <a:off x="628650" y="476250"/>
            <a:ext cx="59530" cy="59769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1BEAF95-55D6-403B-BA21-08A5C497A416}"/>
              </a:ext>
            </a:extLst>
          </p:cNvPr>
          <p:cNvSpPr/>
          <p:nvPr/>
        </p:nvSpPr>
        <p:spPr>
          <a:xfrm>
            <a:off x="579352" y="3581400"/>
            <a:ext cx="2443247" cy="23775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205642A9-2385-49F6-B5B8-F36F4E0251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629" y="3636995"/>
            <a:ext cx="2349552" cy="2266312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AADE1F6-FF55-49D0-BCA7-91B874528F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2726" y="1583355"/>
            <a:ext cx="7466595" cy="461813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226DA54-B4FF-4B51-AF98-5DBB0DABDFF9}"/>
              </a:ext>
            </a:extLst>
          </p:cNvPr>
          <p:cNvSpPr txBox="1"/>
          <p:nvPr/>
        </p:nvSpPr>
        <p:spPr>
          <a:xfrm>
            <a:off x="828675" y="2047875"/>
            <a:ext cx="123142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19.104-78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19.106-78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19.505-79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iso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9126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9"/>
          <p:cNvSpPr txBox="1"/>
          <p:nvPr/>
        </p:nvSpPr>
        <p:spPr>
          <a:xfrm>
            <a:off x="714375" y="476250"/>
            <a:ext cx="11451431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Решение проблем в Руководстве оператора</a:t>
            </a:r>
            <a:endParaRPr sz="4000" b="1" dirty="0">
              <a:solidFill>
                <a:srgbClr val="0F17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07;p14">
            <a:extLst>
              <a:ext uri="{FF2B5EF4-FFF2-40B4-BE49-F238E27FC236}">
                <a16:creationId xmlns:a16="http://schemas.microsoft.com/office/drawing/2014/main" id="{E7C64204-7924-4082-A30D-7079A984F7C9}"/>
              </a:ext>
            </a:extLst>
          </p:cNvPr>
          <p:cNvSpPr/>
          <p:nvPr/>
        </p:nvSpPr>
        <p:spPr>
          <a:xfrm>
            <a:off x="628650" y="476250"/>
            <a:ext cx="59530" cy="59769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F40350-9FA2-4D73-B331-FFAFF32CE2A1}"/>
              </a:ext>
            </a:extLst>
          </p:cNvPr>
          <p:cNvSpPr txBox="1"/>
          <p:nvPr/>
        </p:nvSpPr>
        <p:spPr>
          <a:xfrm>
            <a:off x="899885" y="1598682"/>
            <a:ext cx="59282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Основная проблема это </a:t>
            </a:r>
            <a:r>
              <a:rPr lang="ru-RU" sz="200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Неверный логин или пароль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20B2B6-7A33-4090-852B-B0654170B0D2}"/>
              </a:ext>
            </a:extLst>
          </p:cNvPr>
          <p:cNvSpPr txBox="1"/>
          <p:nvPr/>
        </p:nvSpPr>
        <p:spPr>
          <a:xfrm>
            <a:off x="7097486" y="3672114"/>
            <a:ext cx="13885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Пример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гифкой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ED0227-0C84-4EF2-86BC-C05BEAEBB9E0}"/>
              </a:ext>
            </a:extLst>
          </p:cNvPr>
          <p:cNvSpPr txBox="1"/>
          <p:nvPr/>
        </p:nvSpPr>
        <p:spPr>
          <a:xfrm>
            <a:off x="899885" y="2474893"/>
            <a:ext cx="3860801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Данное сообщение об ошибке выводится на экран оператору при вводе неверных данных аутентификации. </a:t>
            </a:r>
          </a:p>
          <a:p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Требуется проверить корректность введенных учетных данных. </a:t>
            </a:r>
          </a:p>
          <a:p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В случае повторения ошибки необходимо обратиться к системному администратору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0"/>
          <p:cNvSpPr txBox="1"/>
          <p:nvPr/>
        </p:nvSpPr>
        <p:spPr>
          <a:xfrm>
            <a:off x="714375" y="476250"/>
            <a:ext cx="11451431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Измеримые критерии качества</a:t>
            </a:r>
            <a:endParaRPr sz="4000" b="1" dirty="0">
              <a:solidFill>
                <a:srgbClr val="0F17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07;p14">
            <a:extLst>
              <a:ext uri="{FF2B5EF4-FFF2-40B4-BE49-F238E27FC236}">
                <a16:creationId xmlns:a16="http://schemas.microsoft.com/office/drawing/2014/main" id="{DF10A318-E27A-41C1-AFAC-998B96072AA4}"/>
              </a:ext>
            </a:extLst>
          </p:cNvPr>
          <p:cNvSpPr/>
          <p:nvPr/>
        </p:nvSpPr>
        <p:spPr>
          <a:xfrm>
            <a:off x="628650" y="476250"/>
            <a:ext cx="59530" cy="59769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972D311-EA15-476F-879B-86E141B39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917" y="1738708"/>
            <a:ext cx="4648849" cy="40772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52E5441-2903-403F-AA3F-AC790A1B065F}"/>
              </a:ext>
            </a:extLst>
          </p:cNvPr>
          <p:cNvSpPr txBox="1"/>
          <p:nvPr/>
        </p:nvSpPr>
        <p:spPr>
          <a:xfrm>
            <a:off x="6096000" y="1144626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Надёжность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81B18A-25A4-4BBB-9A24-FA7B5718E9EB}"/>
              </a:ext>
            </a:extLst>
          </p:cNvPr>
          <p:cNvSpPr txBox="1"/>
          <p:nvPr/>
        </p:nvSpPr>
        <p:spPr>
          <a:xfrm>
            <a:off x="6135290" y="4035003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Удобство использования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473D8B-BB3C-46BA-8A37-7BFAA9F47281}"/>
              </a:ext>
            </a:extLst>
          </p:cNvPr>
          <p:cNvSpPr txBox="1"/>
          <p:nvPr/>
        </p:nvSpPr>
        <p:spPr>
          <a:xfrm>
            <a:off x="6440090" y="1680247"/>
            <a:ext cx="54864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Кнопка «Зарегистрироваться» серая до тех пор, пока все обязательные поля не заполнены корректно.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 обрыве соединения данные формы сохраняются.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случае кибератаки применяется механизм 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Wipe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Rebuild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A65D82-CBD0-4D60-A1A5-8F09C48AF3C6}"/>
              </a:ext>
            </a:extLst>
          </p:cNvPr>
          <p:cNvSpPr txBox="1"/>
          <p:nvPr/>
        </p:nvSpPr>
        <p:spPr>
          <a:xfrm>
            <a:off x="6440091" y="4442758"/>
            <a:ext cx="57912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Автофокус при ошибке оно подсвечивается красным.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Подсказки в полях «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», «Пароль», «Возраст» отображается серый текст-пример.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Сообщения об ошибках под полем выводится текст с описанием проблемы.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21"/>
          <p:cNvSpPr txBox="1"/>
          <p:nvPr/>
        </p:nvSpPr>
        <p:spPr>
          <a:xfrm>
            <a:off x="714375" y="476250"/>
            <a:ext cx="11451431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Методы и Техники тестирования</a:t>
            </a:r>
            <a:endParaRPr sz="4000" b="1" dirty="0">
              <a:solidFill>
                <a:srgbClr val="0F17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Google Shape;107;p14">
            <a:extLst>
              <a:ext uri="{FF2B5EF4-FFF2-40B4-BE49-F238E27FC236}">
                <a16:creationId xmlns:a16="http://schemas.microsoft.com/office/drawing/2014/main" id="{441E503D-6A10-4F3F-AB77-EB69A93355E8}"/>
              </a:ext>
            </a:extLst>
          </p:cNvPr>
          <p:cNvSpPr/>
          <p:nvPr/>
        </p:nvSpPr>
        <p:spPr>
          <a:xfrm>
            <a:off x="628650" y="476250"/>
            <a:ext cx="59530" cy="59769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22"/>
          <p:cNvSpPr txBox="1"/>
          <p:nvPr/>
        </p:nvSpPr>
        <p:spPr>
          <a:xfrm>
            <a:off x="714375" y="476250"/>
            <a:ext cx="11451431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Тест-Кейсы</a:t>
            </a:r>
            <a:r>
              <a:rPr lang="en-US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 </a:t>
            </a:r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Пример заполнения регистрации</a:t>
            </a:r>
            <a:endParaRPr sz="4000" b="1" dirty="0">
              <a:solidFill>
                <a:srgbClr val="0F17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Google Shape;107;p14">
            <a:extLst>
              <a:ext uri="{FF2B5EF4-FFF2-40B4-BE49-F238E27FC236}">
                <a16:creationId xmlns:a16="http://schemas.microsoft.com/office/drawing/2014/main" id="{27B5CF70-89DC-41E5-904D-42A5AA2EFF57}"/>
              </a:ext>
            </a:extLst>
          </p:cNvPr>
          <p:cNvSpPr/>
          <p:nvPr/>
        </p:nvSpPr>
        <p:spPr>
          <a:xfrm>
            <a:off x="628650" y="476250"/>
            <a:ext cx="59530" cy="59769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3"/>
          <p:cNvSpPr txBox="1"/>
          <p:nvPr/>
        </p:nvSpPr>
        <p:spPr>
          <a:xfrm>
            <a:off x="714375" y="476250"/>
            <a:ext cx="11451431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Тестовое</a:t>
            </a:r>
            <a:r>
              <a:rPr lang="en-US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 </a:t>
            </a:r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Покрытие</a:t>
            </a:r>
            <a:r>
              <a:rPr lang="en-US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 </a:t>
            </a:r>
            <a:endParaRPr sz="4000" b="1" dirty="0">
              <a:solidFill>
                <a:srgbClr val="0F17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0F68DE-D8E7-462B-8BE5-53AD511E9288}"/>
              </a:ext>
            </a:extLst>
          </p:cNvPr>
          <p:cNvSpPr txBox="1"/>
          <p:nvPr/>
        </p:nvSpPr>
        <p:spPr>
          <a:xfrm>
            <a:off x="5659395" y="2125362"/>
            <a:ext cx="18533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ТЕСТ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ит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покртытие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07;p14">
            <a:extLst>
              <a:ext uri="{FF2B5EF4-FFF2-40B4-BE49-F238E27FC236}">
                <a16:creationId xmlns:a16="http://schemas.microsoft.com/office/drawing/2014/main" id="{245A2A05-F583-4148-A15C-29FF35C7D6FB}"/>
              </a:ext>
            </a:extLst>
          </p:cNvPr>
          <p:cNvSpPr/>
          <p:nvPr/>
        </p:nvSpPr>
        <p:spPr>
          <a:xfrm>
            <a:off x="628650" y="476250"/>
            <a:ext cx="59530" cy="59769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4"/>
          <p:cNvSpPr txBox="1"/>
          <p:nvPr/>
        </p:nvSpPr>
        <p:spPr>
          <a:xfrm>
            <a:off x="714375" y="476250"/>
            <a:ext cx="11451431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Вывод и перспективы</a:t>
            </a:r>
            <a:endParaRPr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443660-D270-A1B5-270F-2CEB61BC2D2C}"/>
              </a:ext>
            </a:extLst>
          </p:cNvPr>
          <p:cNvSpPr txBox="1"/>
          <p:nvPr/>
        </p:nvSpPr>
        <p:spPr>
          <a:xfrm>
            <a:off x="4268406" y="1537958"/>
            <a:ext cx="52701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Проект реализован на 45%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5490E31-04F9-002C-C4C6-827F42D71678}"/>
              </a:ext>
            </a:extLst>
          </p:cNvPr>
          <p:cNvSpPr/>
          <p:nvPr/>
        </p:nvSpPr>
        <p:spPr>
          <a:xfrm>
            <a:off x="9169400" y="3581400"/>
            <a:ext cx="2527300" cy="23775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2AD027-79B0-61BF-F6D5-CB28AD22D7DA}"/>
              </a:ext>
            </a:extLst>
          </p:cNvPr>
          <p:cNvSpPr txBox="1"/>
          <p:nvPr/>
        </p:nvSpPr>
        <p:spPr>
          <a:xfrm>
            <a:off x="1066797" y="5958903"/>
            <a:ext cx="12319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526E92-5310-D2E1-F921-B06E54EB1DC9}"/>
              </a:ext>
            </a:extLst>
          </p:cNvPr>
          <p:cNvSpPr txBox="1"/>
          <p:nvPr/>
        </p:nvSpPr>
        <p:spPr>
          <a:xfrm>
            <a:off x="9817100" y="6014538"/>
            <a:ext cx="12319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Сайт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C1E1B80-D77D-40C7-8B35-1BD03A93AC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3453" y="3636995"/>
            <a:ext cx="2359194" cy="2266312"/>
          </a:xfrm>
          <a:prstGeom prst="rect">
            <a:avLst/>
          </a:prstGeom>
        </p:spPr>
      </p:pic>
      <p:sp>
        <p:nvSpPr>
          <p:cNvPr id="13" name="Google Shape;107;p14">
            <a:extLst>
              <a:ext uri="{FF2B5EF4-FFF2-40B4-BE49-F238E27FC236}">
                <a16:creationId xmlns:a16="http://schemas.microsoft.com/office/drawing/2014/main" id="{368CC448-9031-4AF6-9A71-523F0BBA1C36}"/>
              </a:ext>
            </a:extLst>
          </p:cNvPr>
          <p:cNvSpPr/>
          <p:nvPr/>
        </p:nvSpPr>
        <p:spPr>
          <a:xfrm>
            <a:off x="628650" y="476250"/>
            <a:ext cx="59530" cy="59769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>
              <a:latin typeface="Times New Roman" panose="02020603050405020304" pitchFamily="18" charset="0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B0DB236-AE29-4AAA-9CD5-92C2BD79E1CE}"/>
              </a:ext>
            </a:extLst>
          </p:cNvPr>
          <p:cNvSpPr/>
          <p:nvPr/>
        </p:nvSpPr>
        <p:spPr>
          <a:xfrm>
            <a:off x="579352" y="3581400"/>
            <a:ext cx="2443247" cy="23775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4F1A0611-9048-438A-83FC-A3849244FE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629" y="3636995"/>
            <a:ext cx="2349552" cy="22663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C46735D-E7B0-74D3-58C1-5C3D1BBA725A}"/>
              </a:ext>
            </a:extLst>
          </p:cNvPr>
          <p:cNvSpPr txBox="1"/>
          <p:nvPr/>
        </p:nvSpPr>
        <p:spPr>
          <a:xfrm>
            <a:off x="4160459" y="3957602"/>
            <a:ext cx="4956806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Что удалось сделать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Концептуальная и архитектурная часть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 и пользовательский опыт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Тестирование и качество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Документирование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06DD71-DB5E-4338-0926-32A1CA723565}"/>
              </a:ext>
            </a:extLst>
          </p:cNvPr>
          <p:cNvSpPr txBox="1"/>
          <p:nvPr/>
        </p:nvSpPr>
        <p:spPr>
          <a:xfrm>
            <a:off x="7020236" y="2105560"/>
            <a:ext cx="514557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Что хотелось бы реализовать по другому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Организационные и управленческие аспекты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Технические решения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EF6137-DB04-E24B-D9E7-040C938B1835}"/>
              </a:ext>
            </a:extLst>
          </p:cNvPr>
          <p:cNvSpPr txBox="1"/>
          <p:nvPr/>
        </p:nvSpPr>
        <p:spPr>
          <a:xfrm>
            <a:off x="624629" y="2105560"/>
            <a:ext cx="429316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Перспективность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Государственное финансирование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Масштабируемость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5"/>
          <p:cNvSpPr txBox="1"/>
          <p:nvPr/>
        </p:nvSpPr>
        <p:spPr>
          <a:xfrm>
            <a:off x="2170509" y="1367798"/>
            <a:ext cx="7850981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800" b="1" i="0" u="none" strike="noStrike" cap="none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Спасибо за Внимание!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5" name="Google Shape;315;p25"/>
          <p:cNvSpPr txBox="1"/>
          <p:nvPr/>
        </p:nvSpPr>
        <p:spPr>
          <a:xfrm>
            <a:off x="4257674" y="2658070"/>
            <a:ext cx="36766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u="none" strike="noStrike" cap="none" dirty="0">
                <a:solidFill>
                  <a:srgbClr val="38BDF8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Готов ответить на ваши вопросы</a:t>
            </a:r>
            <a:endParaRPr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F01C00-43FA-208E-2531-5FD07A84511C}"/>
              </a:ext>
            </a:extLst>
          </p:cNvPr>
          <p:cNvSpPr txBox="1"/>
          <p:nvPr/>
        </p:nvSpPr>
        <p:spPr>
          <a:xfrm>
            <a:off x="1066797" y="5958903"/>
            <a:ext cx="12319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>
                    <a:lumMod val="9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endParaRPr lang="ru-RU" sz="2400" dirty="0">
              <a:solidFill>
                <a:schemeClr val="bg1">
                  <a:lumMod val="9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8B05C209-43DE-48DE-824E-E61F5FA3421A}"/>
              </a:ext>
            </a:extLst>
          </p:cNvPr>
          <p:cNvSpPr/>
          <p:nvPr/>
        </p:nvSpPr>
        <p:spPr>
          <a:xfrm>
            <a:off x="9169400" y="3581400"/>
            <a:ext cx="2527300" cy="23775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82F8AD-5961-4B62-9DF9-5E2F5EEAD767}"/>
              </a:ext>
            </a:extLst>
          </p:cNvPr>
          <p:cNvSpPr txBox="1"/>
          <p:nvPr/>
        </p:nvSpPr>
        <p:spPr>
          <a:xfrm>
            <a:off x="9817100" y="6014538"/>
            <a:ext cx="12319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Сайт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3ADA0886-8270-4EC5-BF97-F13FF0929F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3453" y="3636995"/>
            <a:ext cx="2359194" cy="2266312"/>
          </a:xfrm>
          <a:prstGeom prst="rect">
            <a:avLst/>
          </a:prstGeom>
        </p:spPr>
      </p:pic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F103A71-8679-4180-BF5C-B37EE4B54585}"/>
              </a:ext>
            </a:extLst>
          </p:cNvPr>
          <p:cNvSpPr/>
          <p:nvPr/>
        </p:nvSpPr>
        <p:spPr>
          <a:xfrm>
            <a:off x="579352" y="3581400"/>
            <a:ext cx="2443247" cy="23775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4C77EA93-B31E-4B59-AFB3-09C2CD42C9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629" y="3636995"/>
            <a:ext cx="2349552" cy="226631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</TotalTime>
  <Words>421</Words>
  <Application>Microsoft Office PowerPoint</Application>
  <PresentationFormat>Широкоэкранный</PresentationFormat>
  <Paragraphs>102</Paragraphs>
  <Slides>16</Slides>
  <Notes>16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0" baseType="lpstr">
      <vt:lpstr>Times New Roman</vt:lpstr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cp:lastModifiedBy>Вячеслав Ярцев</cp:lastModifiedBy>
  <cp:revision>26</cp:revision>
  <dcterms:modified xsi:type="dcterms:W3CDTF">2026-06-18T15:22:50Z</dcterms:modified>
</cp:coreProperties>
</file>