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69" r:id="rId5"/>
    <p:sldId id="270" r:id="rId6"/>
    <p:sldId id="260" r:id="rId7"/>
    <p:sldId id="272" r:id="rId8"/>
    <p:sldId id="271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embeddedFontLst>
    <p:embeddedFont>
      <p:font typeface="Inter" panose="020B0604020202020204" charset="0"/>
      <p:regular r:id="rId19"/>
      <p:bold r:id="rId20"/>
      <p:italic r:id="rId21"/>
      <p:boldItalic r:id="rId22"/>
    </p:embeddedFont>
    <p:embeddedFont>
      <p:font typeface="Montserrat" panose="00000500000000000000" pitchFamily="2" charset="-52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263DAD-BC0A-4370-A1EB-90C0805C6A79}">
  <a:tblStyle styleId="{9E263DAD-BC0A-4370-A1EB-90C0805C6A7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540" y="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835400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3941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925242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37986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295275" y="2012453"/>
            <a:ext cx="1160145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99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“</a:t>
            </a:r>
            <a:r>
              <a:rPr lang="ru-RU" sz="4800" b="1" i="0" u="none" strike="noStrike" cap="none" dirty="0" err="1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ГосБанк</a:t>
            </a:r>
            <a:r>
              <a:rPr lang="en-US" sz="4800" b="1" dirty="0">
                <a:solidFill>
                  <a:srgbClr val="FFFFFF"/>
                </a:solidFill>
                <a:latin typeface="Times New Roman" panose="02020603050405020304" pitchFamily="18" charset="0"/>
                <a:ea typeface="Montserrat"/>
                <a:cs typeface="Times New Roman" panose="02020603050405020304" pitchFamily="18" charset="0"/>
                <a:sym typeface="Montserrat"/>
              </a:rPr>
              <a:t>”</a:t>
            </a:r>
            <a:endParaRPr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Блок-схема: альтернативный процесс 2">
            <a:extLst>
              <a:ext uri="{FF2B5EF4-FFF2-40B4-BE49-F238E27FC236}">
                <a16:creationId xmlns:a16="http://schemas.microsoft.com/office/drawing/2014/main" id="{1DBE197B-0DA5-F10C-F995-C02E7F88A77D}"/>
              </a:ext>
            </a:extLst>
          </p:cNvPr>
          <p:cNvSpPr/>
          <p:nvPr/>
        </p:nvSpPr>
        <p:spPr>
          <a:xfrm>
            <a:off x="3327399" y="3365500"/>
            <a:ext cx="5537201" cy="735195"/>
          </a:xfrm>
          <a:prstGeom prst="flowChartAlternate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Разработчик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Ярцев В.А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|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Группа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24290907/2093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1510284-BC8E-3867-421B-50214D97E2C9}"/>
              </a:ext>
            </a:extLst>
          </p:cNvPr>
          <p:cNvSpPr/>
          <p:nvPr/>
        </p:nvSpPr>
        <p:spPr>
          <a:xfrm>
            <a:off x="495298" y="3429000"/>
            <a:ext cx="2374899" cy="2400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CD578B-69ED-BC2B-8086-BF7231FFF8E5}"/>
              </a:ext>
            </a:extLst>
          </p:cNvPr>
          <p:cNvSpPr/>
          <p:nvPr/>
        </p:nvSpPr>
        <p:spPr>
          <a:xfrm>
            <a:off x="9169400" y="3581400"/>
            <a:ext cx="2527300" cy="2377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A5A982C-0409-82D7-3833-D65F6DEB5435}"/>
              </a:ext>
            </a:extLst>
          </p:cNvPr>
          <p:cNvSpPr txBox="1"/>
          <p:nvPr/>
        </p:nvSpPr>
        <p:spPr>
          <a:xfrm>
            <a:off x="1066797" y="5958903"/>
            <a:ext cx="123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2E733-AE69-34B7-2459-E53589764F0F}"/>
              </a:ext>
            </a:extLst>
          </p:cNvPr>
          <p:cNvSpPr txBox="1"/>
          <p:nvPr/>
        </p:nvSpPr>
        <p:spPr>
          <a:xfrm>
            <a:off x="9817100" y="6014538"/>
            <a:ext cx="123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/>
          <p:nvPr/>
        </p:nvSpPr>
        <p:spPr>
          <a:xfrm>
            <a:off x="628650" y="1736921"/>
            <a:ext cx="5600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ontserrat SemiBold"/>
              </a:rPr>
              <a:t>Назначение</a:t>
            </a:r>
            <a:r>
              <a:rPr lang="ru-RU" sz="2000" dirty="0">
                <a:solidFill>
                  <a:srgbClr val="0F172A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Montserrat SemiBold"/>
              </a:rPr>
              <a:t> сайта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300788" y="3055315"/>
            <a:ext cx="5334000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85825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Защита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5566767" y="4683611"/>
            <a:ext cx="584715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76400" tIns="0" rIns="0" bIns="0" anchor="t" anchorCtr="0">
            <a:spAutoFit/>
          </a:bodyPr>
          <a:lstStyle/>
          <a:p>
            <a:pPr marR="0" lvl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Нагрузка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5360194" y="1736921"/>
            <a:ext cx="626030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66875" tIns="0" rIns="0" bIns="0" anchor="t" anchorCtr="0">
            <a:spAutoFit/>
          </a:bodyPr>
          <a:lstStyle/>
          <a:p>
            <a:pPr marL="0" marR="0" lvl="0" indent="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Срок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исполнения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714375" y="476250"/>
            <a:ext cx="1145143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ontserrat"/>
              </a:rPr>
              <a:t>Предметная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ontserrat"/>
              </a:rPr>
              <a:t>област</a:t>
            </a: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  <a:sym typeface="Montserrat"/>
              </a:rPr>
              <a:t>ь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628650" y="476250"/>
            <a:ext cx="59530" cy="502444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Модель жизненного цикла (МЖЦ)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476250"/>
            <a:ext cx="57150" cy="419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ADB34C-7F72-AF5D-4E12-2D89ACFCC99A}"/>
              </a:ext>
            </a:extLst>
          </p:cNvPr>
          <p:cNvSpPr txBox="1"/>
          <p:nvPr/>
        </p:nvSpPr>
        <p:spPr>
          <a:xfrm>
            <a:off x="6324600" y="2800350"/>
            <a:ext cx="63190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МЖЦ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5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Модель жизненного цикла (МЖЦ)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71500" y="476250"/>
            <a:ext cx="57150" cy="419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3FC8F1-A31B-881A-EB7A-8FFD6EEC3721}"/>
              </a:ext>
            </a:extLst>
          </p:cNvPr>
          <p:cNvSpPr txBox="1"/>
          <p:nvPr/>
        </p:nvSpPr>
        <p:spPr>
          <a:xfrm>
            <a:off x="5334000" y="2743200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ЭТАПЫ</a:t>
            </a:r>
          </a:p>
        </p:txBody>
      </p:sp>
    </p:spTree>
    <p:extLst>
      <p:ext uri="{BB962C8B-B14F-4D97-AF65-F5344CB8AC3E}">
        <p14:creationId xmlns:p14="http://schemas.microsoft.com/office/powerpoint/2010/main" val="968755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 txBox="1"/>
          <p:nvPr/>
        </p:nvSpPr>
        <p:spPr>
          <a:xfrm>
            <a:off x="495300" y="1498600"/>
            <a:ext cx="56007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  <a:sym typeface="Montserrat SemiBold"/>
              </a:rPr>
              <a:t>4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Montserrat SemiBold"/>
              </a:rPr>
              <a:t> уровня доступа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Montserrat SemiBold"/>
              </a:rPr>
              <a:t>: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Google Shape;143;p16"/>
          <p:cNvSpPr txBox="1"/>
          <p:nvPr/>
        </p:nvSpPr>
        <p:spPr>
          <a:xfrm>
            <a:off x="923925" y="1841500"/>
            <a:ext cx="49053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Inter SemiBold"/>
              </a:rPr>
              <a:t>Гость: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Доступны только регистрация, форма входа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и справочные страницы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923925" y="2527300"/>
            <a:ext cx="4905375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err="1">
                <a:latin typeface="Times New Roman" panose="02020603050405020304" pitchFamily="18" charset="0"/>
                <a:cs typeface="Times New Roman" panose="02020603050405020304" pitchFamily="18" charset="0"/>
                <a:sym typeface="Inter SemiBold"/>
              </a:rPr>
              <a:t>Зарегестрированный</a:t>
            </a:r>
            <a:r>
              <a:rPr lang="ru-RU" sz="2000">
                <a:latin typeface="Times New Roman" panose="02020603050405020304" pitchFamily="18" charset="0"/>
                <a:cs typeface="Times New Roman" panose="02020603050405020304" pitchFamily="18" charset="0"/>
                <a:sym typeface="Inter SemiBold"/>
              </a:rPr>
              <a:t> пользователь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Inter SemiBold"/>
              </a:rPr>
              <a:t>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Доступ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к оперативной панели мониторинга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и просмотру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ЛК пользователей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923925" y="4122116"/>
            <a:ext cx="5172075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Inter SemiBold"/>
              </a:rPr>
              <a:t>Суперадмин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 SemiBold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Полный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доступ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к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конфигурации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безопасности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ИС.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714375" y="476250"/>
            <a:ext cx="1145143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ontserrat"/>
              </a:rPr>
              <a:t>Интерфейс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Montserrat"/>
              </a:rPr>
              <a:t> и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ontserrat"/>
              </a:rPr>
              <a:t>Уровни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  <a:sym typeface="Montserrat"/>
              </a:rPr>
              <a:t>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Montserrat"/>
              </a:rPr>
              <a:t>Доступа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476250"/>
            <a:ext cx="80964" cy="50720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08302-1E1C-CC76-5D58-A89E52EE0435}"/>
              </a:ext>
            </a:extLst>
          </p:cNvPr>
          <p:cNvSpPr txBox="1"/>
          <p:nvPr/>
        </p:nvSpPr>
        <p:spPr>
          <a:xfrm>
            <a:off x="923925" y="5185026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 SemiBold"/>
              </a:rPr>
              <a:t>А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Inter SemiBold"/>
              </a:rPr>
              <a:t>дмин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 SemiBold"/>
              </a:rPr>
              <a:t>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Полный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доступ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к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конфигурации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безопасности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Inter"/>
              </a:rPr>
              <a:t> ИС</a:t>
            </a: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5A7C726-9BC2-50C9-B0EC-6C78B9B5BA0A}"/>
              </a:ext>
            </a:extLst>
          </p:cNvPr>
          <p:cNvSpPr txBox="1"/>
          <p:nvPr/>
        </p:nvSpPr>
        <p:spPr>
          <a:xfrm>
            <a:off x="8896865" y="2026508"/>
            <a:ext cx="184858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Словесное </a:t>
            </a:r>
            <a:r>
              <a:rPr lang="ru-RU" dirty="0" err="1"/>
              <a:t>опиание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25813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/>
        </p:nvSpPr>
        <p:spPr>
          <a:xfrm>
            <a:off x="714375" y="476250"/>
            <a:ext cx="1145143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71500" y="476250"/>
            <a:ext cx="57150" cy="419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/>
        </p:nvSpPr>
        <p:spPr>
          <a:xfrm>
            <a:off x="714375" y="476250"/>
            <a:ext cx="11451431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Видео </a:t>
            </a:r>
            <a:r>
              <a:rPr lang="ru-RU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гифка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Google Shape;169;p17"/>
          <p:cNvSpPr/>
          <p:nvPr/>
        </p:nvSpPr>
        <p:spPr>
          <a:xfrm>
            <a:off x="571500" y="476250"/>
            <a:ext cx="57150" cy="419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009E9CA-897A-AA60-5F75-3D63EC1D9CEE}"/>
              </a:ext>
            </a:extLst>
          </p:cNvPr>
          <p:cNvSpPr/>
          <p:nvPr/>
        </p:nvSpPr>
        <p:spPr>
          <a:xfrm>
            <a:off x="803876" y="3429000"/>
            <a:ext cx="2527300" cy="2377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76F550-1D52-BBD0-839C-36EC3FC36BCC}"/>
              </a:ext>
            </a:extLst>
          </p:cNvPr>
          <p:cNvSpPr txBox="1"/>
          <p:nvPr/>
        </p:nvSpPr>
        <p:spPr>
          <a:xfrm>
            <a:off x="1451576" y="5862138"/>
            <a:ext cx="123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</a:t>
            </a:r>
          </a:p>
        </p:txBody>
      </p:sp>
    </p:spTree>
    <p:extLst>
      <p:ext uri="{BB962C8B-B14F-4D97-AF65-F5344CB8AC3E}">
        <p14:creationId xmlns:p14="http://schemas.microsoft.com/office/powerpoint/2010/main" val="4189517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200275"/>
            <a:ext cx="35306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0749" y="2200275"/>
            <a:ext cx="3530649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89999" y="2200275"/>
            <a:ext cx="3530649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Принципы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Проектирования</a:t>
            </a:r>
            <a:r>
              <a:rPr lang="ru-RU" sz="27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удобного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GUI</a:t>
            </a:r>
            <a:endParaRPr dirty="0"/>
          </a:p>
        </p:txBody>
      </p:sp>
      <p:sp>
        <p:nvSpPr>
          <p:cNvPr id="169" name="Google Shape;169;p17"/>
          <p:cNvSpPr/>
          <p:nvPr/>
        </p:nvSpPr>
        <p:spPr>
          <a:xfrm>
            <a:off x="571500" y="476250"/>
            <a:ext cx="57150" cy="419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44698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8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Руководство Оператора и ГОСТы</a:t>
            </a: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571500" y="476250"/>
            <a:ext cx="57150" cy="419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1CABD6-F1C3-654E-B103-7908F6441FB6}"/>
              </a:ext>
            </a:extLst>
          </p:cNvPr>
          <p:cNvSpPr txBox="1"/>
          <p:nvPr/>
        </p:nvSpPr>
        <p:spPr>
          <a:xfrm>
            <a:off x="5993027" y="2199503"/>
            <a:ext cx="21098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ГОСТЫ И содержание 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E7C4C2B-00C1-C512-D469-3CDBCA1E4D00}"/>
              </a:ext>
            </a:extLst>
          </p:cNvPr>
          <p:cNvSpPr/>
          <p:nvPr/>
        </p:nvSpPr>
        <p:spPr>
          <a:xfrm>
            <a:off x="495298" y="3429000"/>
            <a:ext cx="2374899" cy="2400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19347C-BAFD-6061-5F50-90EF8F5691C8}"/>
              </a:ext>
            </a:extLst>
          </p:cNvPr>
          <p:cNvSpPr txBox="1"/>
          <p:nvPr/>
        </p:nvSpPr>
        <p:spPr>
          <a:xfrm>
            <a:off x="1066797" y="5958903"/>
            <a:ext cx="123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Решение Проблем (Раздел РО)</a:t>
            </a:r>
            <a:endParaRPr/>
          </a:p>
        </p:txBody>
      </p:sp>
      <p:sp>
        <p:nvSpPr>
          <p:cNvPr id="207" name="Google Shape;207;p19"/>
          <p:cNvSpPr/>
          <p:nvPr/>
        </p:nvSpPr>
        <p:spPr>
          <a:xfrm>
            <a:off x="571500" y="476250"/>
            <a:ext cx="57150" cy="419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7374E03-0352-ABDF-F81A-8961FD2B636D}"/>
              </a:ext>
            </a:extLst>
          </p:cNvPr>
          <p:cNvSpPr txBox="1"/>
          <p:nvPr/>
        </p:nvSpPr>
        <p:spPr>
          <a:xfrm>
            <a:off x="5548184" y="2137719"/>
            <a:ext cx="29097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ПРОБЛЕМЫ И КАК ИХ РЕШИТЬ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0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Измеримые Критерии Качества</a:t>
            </a:r>
            <a:endParaRPr/>
          </a:p>
        </p:txBody>
      </p:sp>
      <p:sp>
        <p:nvSpPr>
          <p:cNvPr id="226" name="Google Shape;226;p20"/>
          <p:cNvSpPr/>
          <p:nvPr/>
        </p:nvSpPr>
        <p:spPr>
          <a:xfrm>
            <a:off x="571500" y="476250"/>
            <a:ext cx="57150" cy="419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BE882C-2F17-CD65-D3B7-540814218660}"/>
              </a:ext>
            </a:extLst>
          </p:cNvPr>
          <p:cNvSpPr txBox="1"/>
          <p:nvPr/>
        </p:nvSpPr>
        <p:spPr>
          <a:xfrm>
            <a:off x="6005384" y="3039762"/>
            <a:ext cx="12522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Метрика </a:t>
            </a:r>
            <a:r>
              <a:rPr lang="en-US" dirty="0"/>
              <a:t>ISO</a:t>
            </a:r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Методы и Техники Тестирования</a:t>
            </a:r>
            <a:endParaRPr/>
          </a:p>
        </p:txBody>
      </p:sp>
      <p:sp>
        <p:nvSpPr>
          <p:cNvPr id="247" name="Google Shape;247;p21"/>
          <p:cNvSpPr/>
          <p:nvPr/>
        </p:nvSpPr>
        <p:spPr>
          <a:xfrm>
            <a:off x="571500" y="476250"/>
            <a:ext cx="57150" cy="419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Тест-Кейс</a:t>
            </a:r>
            <a:r>
              <a:rPr lang="en-US" sz="2700" b="1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ru-RU" sz="2700" b="1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Пример заполнения регистрации</a:t>
            </a:r>
            <a:endParaRPr dirty="0"/>
          </a:p>
        </p:txBody>
      </p:sp>
      <p:sp>
        <p:nvSpPr>
          <p:cNvPr id="274" name="Google Shape;274;p22"/>
          <p:cNvSpPr/>
          <p:nvPr/>
        </p:nvSpPr>
        <p:spPr>
          <a:xfrm>
            <a:off x="571500" y="476250"/>
            <a:ext cx="57150" cy="419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Тестовое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700" b="1" i="0" u="none" strike="noStrike" cap="none" dirty="0" err="1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Покрытие</a:t>
            </a:r>
            <a:r>
              <a:rPr lang="en-US" sz="2700" b="1" i="0" u="none" strike="noStrike" cap="none" dirty="0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dirty="0"/>
          </a:p>
        </p:txBody>
      </p:sp>
      <p:sp>
        <p:nvSpPr>
          <p:cNvPr id="283" name="Google Shape;283;p23"/>
          <p:cNvSpPr/>
          <p:nvPr/>
        </p:nvSpPr>
        <p:spPr>
          <a:xfrm>
            <a:off x="571500" y="476250"/>
            <a:ext cx="57150" cy="419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0F68DE-D8E7-462B-8BE5-53AD511E9288}"/>
              </a:ext>
            </a:extLst>
          </p:cNvPr>
          <p:cNvSpPr txBox="1"/>
          <p:nvPr/>
        </p:nvSpPr>
        <p:spPr>
          <a:xfrm>
            <a:off x="5659395" y="2125362"/>
            <a:ext cx="19543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ТЕСТ </a:t>
            </a:r>
            <a:r>
              <a:rPr lang="ru-RU" dirty="0" err="1"/>
              <a:t>ит</a:t>
            </a:r>
            <a:r>
              <a:rPr lang="ru-RU" dirty="0"/>
              <a:t> и </a:t>
            </a:r>
            <a:r>
              <a:rPr lang="ru-RU" dirty="0" err="1"/>
              <a:t>покртытие</a:t>
            </a:r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"/>
          <p:cNvSpPr txBox="1"/>
          <p:nvPr/>
        </p:nvSpPr>
        <p:spPr>
          <a:xfrm>
            <a:off x="714375" y="476250"/>
            <a:ext cx="11451431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0F172A"/>
                </a:solidFill>
                <a:latin typeface="Montserrat"/>
                <a:ea typeface="Montserrat"/>
                <a:cs typeface="Montserrat"/>
                <a:sym typeface="Montserrat"/>
              </a:rPr>
              <a:t>Выводы и Перспективы Проекта</a:t>
            </a:r>
            <a:endParaRPr/>
          </a:p>
        </p:txBody>
      </p:sp>
      <p:sp>
        <p:nvSpPr>
          <p:cNvPr id="305" name="Google Shape;305;p24"/>
          <p:cNvSpPr/>
          <p:nvPr/>
        </p:nvSpPr>
        <p:spPr>
          <a:xfrm>
            <a:off x="571500" y="476250"/>
            <a:ext cx="57150" cy="4191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D443660-D270-A1B5-270F-2CEB61BC2D2C}"/>
              </a:ext>
            </a:extLst>
          </p:cNvPr>
          <p:cNvSpPr txBox="1"/>
          <p:nvPr/>
        </p:nvSpPr>
        <p:spPr>
          <a:xfrm>
            <a:off x="571500" y="1717589"/>
            <a:ext cx="52701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Стадия готовности</a:t>
            </a:r>
          </a:p>
          <a:p>
            <a:r>
              <a:rPr lang="ru-RU" dirty="0"/>
              <a:t>Что удалось сделать</a:t>
            </a:r>
          </a:p>
          <a:p>
            <a:r>
              <a:rPr lang="ru-RU" dirty="0"/>
              <a:t>Что хотелось бы реализовать по другому </a:t>
            </a:r>
          </a:p>
          <a:p>
            <a:r>
              <a:rPr lang="ru-RU" dirty="0"/>
              <a:t>Перспективность 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629707A-6DE2-D97B-F147-F17C5CF89B82}"/>
              </a:ext>
            </a:extLst>
          </p:cNvPr>
          <p:cNvSpPr/>
          <p:nvPr/>
        </p:nvSpPr>
        <p:spPr>
          <a:xfrm>
            <a:off x="495298" y="3429000"/>
            <a:ext cx="2374899" cy="2400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5490E31-04F9-002C-C4C6-827F42D71678}"/>
              </a:ext>
            </a:extLst>
          </p:cNvPr>
          <p:cNvSpPr/>
          <p:nvPr/>
        </p:nvSpPr>
        <p:spPr>
          <a:xfrm>
            <a:off x="9169400" y="3581400"/>
            <a:ext cx="2527300" cy="2377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2AD027-79B0-61BF-F6D5-CB28AD22D7DA}"/>
              </a:ext>
            </a:extLst>
          </p:cNvPr>
          <p:cNvSpPr txBox="1"/>
          <p:nvPr/>
        </p:nvSpPr>
        <p:spPr>
          <a:xfrm>
            <a:off x="1066797" y="5958903"/>
            <a:ext cx="123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526E92-5310-D2E1-F921-B06E54EB1DC9}"/>
              </a:ext>
            </a:extLst>
          </p:cNvPr>
          <p:cNvSpPr txBox="1"/>
          <p:nvPr/>
        </p:nvSpPr>
        <p:spPr>
          <a:xfrm>
            <a:off x="9817100" y="6014538"/>
            <a:ext cx="123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5"/>
          <p:cNvSpPr txBox="1"/>
          <p:nvPr/>
        </p:nvSpPr>
        <p:spPr>
          <a:xfrm>
            <a:off x="2170509" y="1367798"/>
            <a:ext cx="7850981" cy="742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Спасибо</a:t>
            </a:r>
            <a:r>
              <a:rPr lang="en-US" sz="4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8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</a:t>
            </a:r>
            <a:r>
              <a:rPr lang="en-US" sz="4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4800" b="1" i="0" u="none" strike="noStrike" cap="non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Внимание</a:t>
            </a:r>
            <a:r>
              <a:rPr lang="en-US" sz="4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!</a:t>
            </a:r>
            <a:endParaRPr dirty="0"/>
          </a:p>
        </p:txBody>
      </p:sp>
      <p:sp>
        <p:nvSpPr>
          <p:cNvPr id="315" name="Google Shape;315;p25"/>
          <p:cNvSpPr txBox="1"/>
          <p:nvPr/>
        </p:nvSpPr>
        <p:spPr>
          <a:xfrm>
            <a:off x="4257674" y="2658070"/>
            <a:ext cx="3676650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Готов</a:t>
            </a:r>
            <a:r>
              <a:rPr lang="en-US" sz="2000" b="0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ответить</a:t>
            </a:r>
            <a:r>
              <a:rPr lang="en-US" sz="2000" b="0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на</a:t>
            </a:r>
            <a:r>
              <a:rPr lang="en-US" sz="2000" b="0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ваши</a:t>
            </a:r>
            <a:r>
              <a:rPr lang="en-US" sz="2000" b="0" i="0" u="none" strike="noStrike" cap="none" dirty="0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000" b="0" i="0" u="none" strike="noStrike" cap="none" dirty="0" err="1">
                <a:solidFill>
                  <a:srgbClr val="38BDF8"/>
                </a:solidFill>
                <a:latin typeface="Inter"/>
                <a:ea typeface="Inter"/>
                <a:cs typeface="Inter"/>
                <a:sym typeface="Inter"/>
              </a:rPr>
              <a:t>вопросы</a:t>
            </a:r>
            <a:endParaRPr sz="1600" dirty="0"/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1CA8A69-4007-5602-EFB9-941DD06C7D96}"/>
              </a:ext>
            </a:extLst>
          </p:cNvPr>
          <p:cNvSpPr/>
          <p:nvPr/>
        </p:nvSpPr>
        <p:spPr>
          <a:xfrm>
            <a:off x="495298" y="3429000"/>
            <a:ext cx="2374899" cy="2400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395DAF0-3FF1-5738-35D3-A11DDB46615C}"/>
              </a:ext>
            </a:extLst>
          </p:cNvPr>
          <p:cNvSpPr/>
          <p:nvPr/>
        </p:nvSpPr>
        <p:spPr>
          <a:xfrm>
            <a:off x="9169400" y="3581400"/>
            <a:ext cx="2527300" cy="237750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F01C00-43FA-208E-2531-5FD07A84511C}"/>
              </a:ext>
            </a:extLst>
          </p:cNvPr>
          <p:cNvSpPr txBox="1"/>
          <p:nvPr/>
        </p:nvSpPr>
        <p:spPr>
          <a:xfrm>
            <a:off x="1066797" y="5958903"/>
            <a:ext cx="123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ru-RU" sz="2400" dirty="0">
              <a:solidFill>
                <a:schemeClr val="bg1">
                  <a:lumMod val="9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E70F2F-31FD-2E36-A011-2B557741C000}"/>
              </a:ext>
            </a:extLst>
          </p:cNvPr>
          <p:cNvSpPr txBox="1"/>
          <p:nvPr/>
        </p:nvSpPr>
        <p:spPr>
          <a:xfrm>
            <a:off x="9817100" y="6014538"/>
            <a:ext cx="1231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solidFill>
                  <a:schemeClr val="bg1">
                    <a:lumMod val="9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Сайт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170</Words>
  <Application>Microsoft Office PowerPoint</Application>
  <PresentationFormat>Широкоэкранный</PresentationFormat>
  <Paragraphs>46</Paragraphs>
  <Slides>16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2" baseType="lpstr">
      <vt:lpstr>Inter</vt:lpstr>
      <vt:lpstr>Arial</vt:lpstr>
      <vt:lpstr>Calibri</vt:lpstr>
      <vt:lpstr>Times New Roman</vt:lpstr>
      <vt:lpstr>Montserrat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Вячеслав Ярцев</cp:lastModifiedBy>
  <cp:revision>8</cp:revision>
  <dcterms:modified xsi:type="dcterms:W3CDTF">2026-06-17T22:51:58Z</dcterms:modified>
</cp:coreProperties>
</file>